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141732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600" kern="0" dirty="0">
                <a:solidFill>
                  <a:srgbClr val="EFE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 GIRASSOL APRESENTA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0" y="1874520"/>
            <a:ext cx="121889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spc="2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GRANDE CHANCE 2026</a:t>
            </a:r>
            <a:endParaRPr lang="en-US" sz="5800" dirty="0"/>
          </a:p>
        </p:txBody>
      </p:sp>
      <p:sp>
        <p:nvSpPr>
          <p:cNvPr id="4" name="Text 2"/>
          <p:cNvSpPr txBox="1"/>
          <p:nvPr/>
        </p:nvSpPr>
        <p:spPr>
          <a:xfrm>
            <a:off x="0" y="2999232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EDIÇÃO SHOPPING OUTLET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350008" y="3886200"/>
            <a:ext cx="7498080" cy="566928"/>
          </a:xfrm>
          <a:prstGeom prst="roundRect">
            <a:avLst>
              <a:gd name="adj" fmla="val 14516"/>
            </a:avLst>
          </a:prstGeom>
          <a:solidFill>
            <a:srgbClr val="2E0B08">
              <a:alpha val="90000"/>
            </a:srgbClr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350008" y="388620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DE PARCERIA ESTRATÉGICA · PALCO OFICIAL DO CASTING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2011680" y="4800600"/>
            <a:ext cx="8165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o talento nasce em qualquer lugar de Angola.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i="1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este ano sobe ao palco no coração do Shopping Outlet.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6355080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confidencial · Direcção de Produção e Conteúdo · Setembro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CONCEITO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próximo grande talento vai ser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descoberto dentro do Shopping Outlet.”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737360" y="2286000"/>
            <a:ext cx="87142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o sucesso da primeira edição de A Grande Chance, que revelou os actores de Os Donos do Silêncio, a Rede Girassol prepara o maior casting de televisão de Angola em busca do elenco da sua próxima grande ficção: Filhos da Terra.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3383280"/>
            <a:ext cx="8714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proposta tem uma contrapartida central e diferenciadora: a fase presencial do casting realiza-se dentro do Shopping Outlet. O shopping deixa de ser um espaço publicitário e passa a ser o palco oficial onde nascem as próximas estrelas da ficção angolana.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2075688" y="4892040"/>
            <a:ext cx="8046720" cy="713232"/>
          </a:xfrm>
          <a:prstGeom prst="roundRect">
            <a:avLst>
              <a:gd name="adj" fmla="val 11538"/>
            </a:avLst>
          </a:prstGeom>
          <a:solidFill>
            <a:srgbClr val="2E0B08">
              <a:alpha val="90000"/>
            </a:srgbClr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075688" y="4892040"/>
            <a:ext cx="8046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Shopping  ·  1 Novela  ·  Milhares de Sonhos  ·  Milhares de Visitantes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DE SUCESSO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Grande Chance · 1ª Edição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737360" y="1481328"/>
            <a:ext cx="8714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maior casting de televisão de Angola, que revelou o elenco de Os Donos do Silêncio.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3383280" cy="1920240"/>
          </a:xfrm>
          <a:prstGeom prst="roundRect">
            <a:avLst>
              <a:gd name="adj" fmla="val 3333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395728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12.000+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00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INSCRIÇÕES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5204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todo o país na primeira edição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07408" y="2148840"/>
            <a:ext cx="3383280" cy="1920240"/>
          </a:xfrm>
          <a:prstGeom prst="roundRect">
            <a:avLst>
              <a:gd name="adj" fmla="val 3333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07408" y="2395728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3200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SELECCIONADOS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35204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casting presencial final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91856" y="2148840"/>
            <a:ext cx="3383280" cy="1920240"/>
          </a:xfrm>
          <a:prstGeom prst="roundRect">
            <a:avLst>
              <a:gd name="adj" fmla="val 3333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54312" y="2459736"/>
            <a:ext cx="658368" cy="658368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904" y="2624328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991856" y="3200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DONOS DO SILÊNCIO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174736" y="3520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sucesso de audiência com elenco 100% revelado pelo casting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737360" y="4526280"/>
            <a:ext cx="8714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formato está validado: um casting nacional gera mobilização massiva de público, conteúdo de forte audiência e um elenco que o país conhece e apoia antes da estreia da novela. É essa mobilização que esta proposta coloca dentro do Shopping Outlet.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638251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Exibição da 1ª edição com distribuição nacional: ZAP · TVCabo · DStv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VALOR PARA O SHOPPING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Porquê o casting dentro do shopping.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53212" y="1965960"/>
            <a:ext cx="5358384" cy="1783080"/>
          </a:xfrm>
          <a:prstGeom prst="roundRect">
            <a:avLst>
              <a:gd name="adj" fmla="val 359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9244" y="2546604"/>
            <a:ext cx="621792" cy="62179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" y="2702052"/>
            <a:ext cx="310896" cy="3108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4772" y="2167128"/>
            <a:ext cx="4078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massivo e recorrente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1604772" y="2514600"/>
            <a:ext cx="4078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candidato convocado chega acompanhado por familiares e amigos. Milhares de visitas adicionais concentradas nos dias de casting.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77356" y="1965960"/>
            <a:ext cx="5358384" cy="1783080"/>
          </a:xfrm>
          <a:prstGeom prst="roundRect">
            <a:avLst>
              <a:gd name="adj" fmla="val 359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33388" y="2546604"/>
            <a:ext cx="621792" cy="62179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836" y="2702052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28916" y="2167128"/>
            <a:ext cx="4078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Permanência prolongada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7328916" y="2514600"/>
            <a:ext cx="4078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candidato espera, almoça, lancha e passeia. Uma visita de 40 minutos transforma-se numa permanência de meio dia, com efeito directo no consumo.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53212" y="4114800"/>
            <a:ext cx="5358384" cy="1783080"/>
          </a:xfrm>
          <a:prstGeom prst="roundRect">
            <a:avLst>
              <a:gd name="adj" fmla="val 359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9244" y="4695444"/>
            <a:ext cx="621792" cy="62179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" y="4850892"/>
            <a:ext cx="310896" cy="31089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04772" y="4315968"/>
            <a:ext cx="4078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shopping como cenário nacional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1604772" y="4663440"/>
            <a:ext cx="4078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Shopping Outlet aparece em emissão nacional como o palco onde os sonhos acontecem, em todos os episódios, teasers e bastidores.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277356" y="4114800"/>
            <a:ext cx="5358384" cy="1783080"/>
          </a:xfrm>
          <a:prstGeom prst="roundRect">
            <a:avLst>
              <a:gd name="adj" fmla="val 359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533388" y="4695444"/>
            <a:ext cx="621792" cy="62179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8836" y="4850892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328916" y="4315968"/>
            <a:ext cx="4078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Associação emocional</a:t>
            </a:r>
            <a:endParaRPr lang="en-US" sz="1450" dirty="0"/>
          </a:p>
        </p:txBody>
      </p:sp>
      <p:sp>
        <p:nvSpPr>
          <p:cNvPr id="23" name="Text 17"/>
          <p:cNvSpPr txBox="1"/>
          <p:nvPr/>
        </p:nvSpPr>
        <p:spPr>
          <a:xfrm>
            <a:off x="7328916" y="4663440"/>
            <a:ext cx="4078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marca fica ligada ao dia em que alguém teve a grande chance. Inclusão, oportunidade e ascensão social não se compram com publicidade convencional.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731520" y="638251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marca não compra publicidade. Recebe o acontecimento.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MECÂNICA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espaços, um espectáculo.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53212" y="1783080"/>
            <a:ext cx="5358384" cy="3063240"/>
          </a:xfrm>
          <a:prstGeom prst="roundRect">
            <a:avLst>
              <a:gd name="adj" fmla="val 209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875788" y="1993392"/>
            <a:ext cx="713232" cy="71323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2171700"/>
            <a:ext cx="356616" cy="3566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" y="2788920"/>
            <a:ext cx="5358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PALCO DA CHANCE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53212" y="3108960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Praça central · aberto ao público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18972" y="3474720"/>
            <a:ext cx="46268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cénica com a identidade de A Grande Chance e do Shopping Outlet. Recepção dos candidatos, desafios abertos, reacções do júri e anúncio dos apurados. É o íman de público e o cenário principal das gravações.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77356" y="1783080"/>
            <a:ext cx="5358384" cy="3063240"/>
          </a:xfrm>
          <a:prstGeom prst="roundRect">
            <a:avLst>
              <a:gd name="adj" fmla="val 209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599932" y="1993392"/>
            <a:ext cx="713232" cy="71323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171700"/>
            <a:ext cx="356616" cy="35661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277356" y="2788920"/>
            <a:ext cx="5358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SALA DE AUDIÇÕES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277356" y="3108960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Espaço fechado cedido pelo shopping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6643116" y="3474720"/>
            <a:ext cx="46268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 convertida em estúdio, com som e luz controlados. É aqui que o júri avalia tecnicamente cada candidato, em condições que a área comum não permite, garantindo que o casting cumpre a sua função: encontrar o elenco de Filhos da Terra.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2194560" y="5257800"/>
            <a:ext cx="7799832" cy="621792"/>
          </a:xfrm>
          <a:prstGeom prst="roundRect">
            <a:avLst>
              <a:gd name="adj" fmla="val 13235"/>
            </a:avLst>
          </a:prstGeom>
          <a:solidFill>
            <a:srgbClr val="2E0B08">
              <a:alpha val="90000"/>
            </a:srgbClr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2194560" y="5257800"/>
            <a:ext cx="77998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 6 dias de operação  ·  2 a 3 fins-de-semana consecutivos  ·  dias de maior tráfego natural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dia de casting, um episódio especial.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45236" y="2057400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9556" y="20574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Inscrições e recepção dos candidatos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23076" y="2057400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97396" y="20574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Bastidores das audições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45236" y="3218688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19556" y="3218688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Desafios de representação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23076" y="3218688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97396" y="3218688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do júri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45236" y="4379976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19556" y="4379976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vida dos participantes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323076" y="4379976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97396" y="4379976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dos apurados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737360" y="5486400"/>
            <a:ext cx="8714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público acompanha o talento, a evolução e a superação dos concorrentes.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i="1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Shopping Outlet está presente em todos estes momentos, porque todos acontecem dentro dele.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JÚRI E APRESENTADORA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rostos que vão guiar esta jornada.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0" y="169164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APRESENTADORA</a:t>
            </a:r>
            <a:endParaRPr lang="en-US" sz="1200" dirty="0"/>
          </a:p>
        </p:txBody>
      </p:sp>
      <p:pic>
        <p:nvPicPr>
          <p:cNvPr id="5" name="Image 0" descr="/tmp/claude-0/-home-user-Redegirassol/2f2b6029-1649-5525-934e-4378fba9b21d/scratchpad/ph-judd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6" y="2034540"/>
            <a:ext cx="1417320" cy="141732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85816" y="2034540"/>
            <a:ext cx="1417320" cy="1417320"/>
          </a:xfrm>
          <a:prstGeom prst="ellips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352044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Juddy da Conceição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0" y="38404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negociação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0" y="434340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MEMBROS DO JÚRI</a:t>
            </a:r>
            <a:endParaRPr lang="en-US" sz="1200" dirty="0"/>
          </a:p>
        </p:txBody>
      </p:sp>
      <p:pic>
        <p:nvPicPr>
          <p:cNvPr id="10" name="Image 1" descr="/tmp/claude-0/-home-user-Redegirassol/2f2b6029-1649-5525-934e-4378fba9b21d/scratchpad/ph-talib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9736" y="4640580"/>
            <a:ext cx="1051560" cy="1051560"/>
          </a:xfrm>
          <a:prstGeom prst="ellipse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459736" y="4640580"/>
            <a:ext cx="1051560" cy="1051560"/>
          </a:xfrm>
          <a:prstGeom prst="ellips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385316" y="57424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Eduardo Kialanda “Talibã”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1385316" y="60167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negociação</a:t>
            </a:r>
            <a:endParaRPr lang="en-US" sz="1100" dirty="0"/>
          </a:p>
        </p:txBody>
      </p:sp>
      <p:pic>
        <p:nvPicPr>
          <p:cNvPr id="14" name="Image 2" descr="/tmp/claude-0/-home-user-Redegirassol/2f2b6029-1649-5525-934e-4378fba9b21d/scratchpad/ph-gra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8696" y="4640580"/>
            <a:ext cx="1051560" cy="1051560"/>
          </a:xfrm>
          <a:prstGeom prst="ellipse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568696" y="4640580"/>
            <a:ext cx="1051560" cy="1051560"/>
          </a:xfrm>
          <a:prstGeom prst="ellips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494276" y="57424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Grace Mendes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4494276" y="60167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negociação</a:t>
            </a:r>
            <a:endParaRPr lang="en-US" sz="1100" dirty="0"/>
          </a:p>
        </p:txBody>
      </p:sp>
      <p:pic>
        <p:nvPicPr>
          <p:cNvPr id="18" name="Image 3" descr="/tmp/claude-0/-home-user-Redegirassol/2f2b6029-1649-5525-934e-4378fba9b21d/scratchpad/ph-mawe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7656" y="4640580"/>
            <a:ext cx="1051560" cy="1051560"/>
          </a:xfrm>
          <a:prstGeom prst="ellipse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8677656" y="4640580"/>
            <a:ext cx="1051560" cy="1051560"/>
          </a:xfrm>
          <a:prstGeom prst="ellips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7603236" y="57424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Mawete Paciência</a:t>
            </a:r>
            <a:endParaRPr lang="en-US" sz="1350" dirty="0"/>
          </a:p>
        </p:txBody>
      </p:sp>
      <p:sp>
        <p:nvSpPr>
          <p:cNvPr id="21" name="Text 15"/>
          <p:cNvSpPr txBox="1"/>
          <p:nvPr/>
        </p:nvSpPr>
        <p:spPr>
          <a:xfrm>
            <a:off x="7603236" y="60167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negociação</a:t>
            </a:r>
            <a:endParaRPr lang="en-US" sz="11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638251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Elenco em linha com o pitch geral de A Grande Chance 2026, sujeito a confirmação contratual.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CONTRAPARTIDAS DE VISIBILIDADE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Shopping Outlet · Palco Oficial de A Grande Chance 2026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80060" y="1965960"/>
            <a:ext cx="3529584" cy="1810512"/>
          </a:xfrm>
          <a:prstGeom prst="roundRect">
            <a:avLst>
              <a:gd name="adj" fmla="val 35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79676" y="2112264"/>
            <a:ext cx="530352" cy="53035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2264" y="2244852"/>
            <a:ext cx="265176" cy="2651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62940" y="2679192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Naming da fase presencial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08660" y="2971800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Grande Chance 2026, casting oficial no Shopping Outlet”, com menção verbal da apresentadora em cada episódio.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329684" y="1965960"/>
            <a:ext cx="3529584" cy="1810512"/>
          </a:xfrm>
          <a:prstGeom prst="roundRect">
            <a:avLst>
              <a:gd name="adj" fmla="val 35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829300" y="2112264"/>
            <a:ext cx="530352" cy="53035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888" y="2244852"/>
            <a:ext cx="265176" cy="26517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12564" y="2679192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Presença em antena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58284" y="2971800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Logotipo no genérico, cartelas e separadores. Fachada e interiores integrados na narrativa dos episódios e nos teasers.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179308" y="1965960"/>
            <a:ext cx="3529584" cy="1810512"/>
          </a:xfrm>
          <a:prstGeom prst="roundRect">
            <a:avLst>
              <a:gd name="adj" fmla="val 35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678924" y="2112264"/>
            <a:ext cx="530352" cy="53035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1512" y="2244852"/>
            <a:ext cx="265176" cy="26517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62188" y="2679192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Presença digital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407908" y="2971800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e localização em toda a convocatória nacional dos candidatos, bastidores com júri e apresentadora, desafios de participação.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80060" y="4096512"/>
            <a:ext cx="3529584" cy="1810512"/>
          </a:xfrm>
          <a:prstGeom prst="roundRect">
            <a:avLst>
              <a:gd name="adj" fmla="val 35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1979676" y="4242816"/>
            <a:ext cx="530352" cy="53035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2264" y="4375404"/>
            <a:ext cx="265176" cy="26517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62940" y="4809744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Activação no espaço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708660" y="5102352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Activações do shopping e das lojas junto ao Palco da Chance, com campanhas internas no fim-de-semana da Grande Chance.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329684" y="4096512"/>
            <a:ext cx="3529584" cy="1810512"/>
          </a:xfrm>
          <a:prstGeom prst="roundRect">
            <a:avLst>
              <a:gd name="adj" fmla="val 35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829300" y="4242816"/>
            <a:ext cx="530352" cy="53035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1888" y="4375404"/>
            <a:ext cx="265176" cy="26517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512564" y="4809744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Exclusividade de categoria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4558284" y="5102352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 de centros comerciais e retalho imobiliário fechada em exclusivo para o Shopping Outlet, mediante negociação.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8179308" y="4096512"/>
            <a:ext cx="3529584" cy="1810512"/>
          </a:xfrm>
          <a:prstGeom prst="roundRect">
            <a:avLst>
              <a:gd name="adj" fmla="val 35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9678924" y="4242816"/>
            <a:ext cx="530352" cy="53035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1512" y="4375404"/>
            <a:ext cx="265176" cy="265176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362188" y="4809744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Relações públicas</a:t>
            </a:r>
            <a:endParaRPr lang="en-US" sz="1250" dirty="0"/>
          </a:p>
        </p:txBody>
      </p:sp>
      <p:sp>
        <p:nvSpPr>
          <p:cNvPr id="33" name="Text 25"/>
          <p:cNvSpPr txBox="1"/>
          <p:nvPr/>
        </p:nvSpPr>
        <p:spPr>
          <a:xfrm>
            <a:off x="8407908" y="5102352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nas comunicações de imprensa, convites para a gala de anúncio do elenco e antestreia de Filhos da Terra.</a:t>
            </a:r>
            <a:endParaRPr lang="en-US" sz="1050" dirty="0"/>
          </a:p>
        </p:txBody>
      </p:sp>
      <p:sp>
        <p:nvSpPr>
          <p:cNvPr id="34" name="Text 26"/>
          <p:cNvSpPr txBox="1"/>
          <p:nvPr/>
        </p:nvSpPr>
        <p:spPr>
          <a:xfrm>
            <a:off x="731520" y="638251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Contrapartidas sujeitas a aprovação editorial, técnica e comercial.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INVESTIMENTO DO PARCEIRO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misto: contrapartidas em espécie e investimento.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53212" y="1828800"/>
            <a:ext cx="5358384" cy="3291840"/>
          </a:xfrm>
          <a:prstGeom prst="roundRect">
            <a:avLst>
              <a:gd name="adj" fmla="val 1944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12364" y="2011680"/>
            <a:ext cx="640080" cy="640080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2384" y="217170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" y="2724912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ESPÉCIE · ESSENCIAIS À OPERAÇÃO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964692" y="3108960"/>
            <a:ext cx="4581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Praça central para o Palco da Chance e montagem prévia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 ou sala para audições, camarins e apoio de produção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Energia garantida, com acesso a gerador em caso de corte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Reforço de segurança e limpeza nos dias de casting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Ecrãs internos, som ambiente, sinalética e redes do shopping ao serviço da divulgação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77356" y="1828800"/>
            <a:ext cx="5358384" cy="3291840"/>
          </a:xfrm>
          <a:prstGeom prst="roundRect">
            <a:avLst>
              <a:gd name="adj" fmla="val 1944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636508" y="2011680"/>
            <a:ext cx="640080" cy="640080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28" y="217170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277356" y="2724912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INVESTIMENTO FINANCEIRO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688836" y="3108960"/>
            <a:ext cx="4535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Participação financeira correspondente ao estatuto de Palco Oficial, em valor a negociar em função do pacote final de contrapartidas e do calendário de operação.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688836" y="4023360"/>
            <a:ext cx="45354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realização do casting no shopping substitui custos de auditório e logística de espaço, considerados na valorização da parceria. Mas a exposição em antena e digital tem valor comercial próprio, e é esse valor que o estatuto remunera.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DO PATROCÍNIO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de investimento · Palco Oficial.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53212" y="1828800"/>
            <a:ext cx="5358384" cy="3246120"/>
          </a:xfrm>
          <a:prstGeom prst="roundRect">
            <a:avLst>
              <a:gd name="adj" fmla="val 1972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53212" y="2084832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PACOTE PALCO OFICIAL · SHOPPING OUTLET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53212" y="2395728"/>
            <a:ext cx="53583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47.000.000 Kz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553212" y="3090672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global do estatuto, assim composto: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64692" y="3474720"/>
            <a:ext cx="4535424" cy="566928"/>
          </a:xfrm>
          <a:prstGeom prst="roundRect">
            <a:avLst>
              <a:gd name="adj" fmla="val 9677"/>
            </a:avLst>
          </a:prstGeom>
          <a:solidFill>
            <a:srgbClr val="1F0605"/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4692" y="3474720"/>
            <a:ext cx="4535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 financeiro</a:t>
            </a:r>
            <a:pPr algn="ctr" indent="0" marL="0">
              <a:buNone/>
            </a:pPr>
            <a:r>
              <a:rPr lang="en-US" sz="1350" b="1" dirty="0">
                <a:solidFill>
                  <a:srgbClr val="E8C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37.000.000 Kz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64692" y="4169664"/>
            <a:ext cx="4535424" cy="566928"/>
          </a:xfrm>
          <a:prstGeom prst="roundRect">
            <a:avLst>
              <a:gd name="adj" fmla="val 9677"/>
            </a:avLst>
          </a:prstGeom>
          <a:solidFill>
            <a:srgbClr val="1F0605"/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4692" y="4169664"/>
            <a:ext cx="4535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Contrapartidas em espécie valorizadas</a:t>
            </a:r>
            <a:pPr algn="ctr" indent="0" marL="0">
              <a:buNone/>
            </a:pPr>
            <a:r>
              <a:rPr lang="en-US" sz="1350" b="1" dirty="0">
                <a:solidFill>
                  <a:srgbClr val="E8C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10.000.000 Kz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277356" y="1828800"/>
            <a:ext cx="5358384" cy="3246120"/>
          </a:xfrm>
          <a:prstGeom prst="roundRect">
            <a:avLst>
              <a:gd name="adj" fmla="val 1972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77356" y="2084832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 · CUSTO DE PRODUÇÃO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277356" y="2395728"/>
            <a:ext cx="53583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38.288.000 Kz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6277356" y="3090672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custo de produção aprovado do projecto (versão 1.2)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688836" y="3520440"/>
            <a:ext cx="45354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investimento do Palco Oficial assegura a produção do projecto e remunera o valor comercial da exposição em antena e digital. O Patrocinador Master e as demais categorias de parceiros representam receita adicional do projecto.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638251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de abertura de negociação, sujeitos a ajuste em função do pacote final de contrapartidas e do calendário.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DE PATROCÍNIOS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e Palco Oficial reforçam-se.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80060" y="1874520"/>
            <a:ext cx="3529584" cy="2880360"/>
          </a:xfrm>
          <a:prstGeom prst="roundRect">
            <a:avLst>
              <a:gd name="adj" fmla="val 2222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24812" y="2057400"/>
            <a:ext cx="640080" cy="640080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21742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62940" y="2770632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PATROCINADOR MASTER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62940" y="306324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 em negociação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54380" y="3429000"/>
            <a:ext cx="29809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Detém a associação nominal principal ao programa e a exclusividade da sua categoria. Ganha no shopping um ponto físico de activação de excelência.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9684" y="1874520"/>
            <a:ext cx="3529584" cy="2880360"/>
          </a:xfrm>
          <a:prstGeom prst="roundRect">
            <a:avLst>
              <a:gd name="adj" fmla="val 2222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774436" y="2057400"/>
            <a:ext cx="640080" cy="640080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456" y="221742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12564" y="2770632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PALCO OFICIAL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512564" y="306324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Shopping Outlet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4604004" y="3429000"/>
            <a:ext cx="29809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Associação exclusiva à fase presencial do casting e à categoria de centros comerciais. Ganha o peso mediático de um projecto com patrocínio nacional.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79308" y="1874520"/>
            <a:ext cx="3529584" cy="2880360"/>
          </a:xfrm>
          <a:prstGeom prst="roundRect">
            <a:avLst>
              <a:gd name="adj" fmla="val 2222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624060" y="2057400"/>
            <a:ext cx="640080" cy="640080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0" y="221742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362188" y="2770632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ABERTAS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8362188" y="306324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restantes parceiros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8453628" y="3429000"/>
            <a:ext cx="29809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 e mobilidade, hotelaria, telecomunicações, banca e seguros, alimentação e bebidas, com exclusividade dentro de cada categoria.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1737360" y="5120640"/>
            <a:ext cx="8714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há conflito entre estatutos. O naming principal do programa mantém-se no Master. O Shopping Outlet detém, em exclusivo, o acontecimento.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OPERACIONAL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 profissional, shopping a funcionar.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82396" y="1828800"/>
            <a:ext cx="10424160" cy="786384"/>
          </a:xfrm>
          <a:prstGeom prst="roundRect">
            <a:avLst>
              <a:gd name="adj" fmla="val 814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9284" y="1965960"/>
            <a:ext cx="512064" cy="512064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00" y="2093976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96796" y="192024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Equipa completa de exteriores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4905756" y="1901952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Produção, realização, câmaras, drone, gimbal, áudio, play out, cenografia, caracterização e segurança de produção, nos moldes já orçamentados para a tour.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82396" y="2761488"/>
            <a:ext cx="10424160" cy="786384"/>
          </a:xfrm>
          <a:prstGeom prst="roundRect">
            <a:avLst>
              <a:gd name="adj" fmla="val 814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29284" y="2898648"/>
            <a:ext cx="512064" cy="512064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300" y="3026664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796796" y="2852928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Montagem nocturna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905756" y="283464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Cenografia montada em horário acordado com a administração, sem perturbar o funcionamento normal das lojas.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82396" y="3694176"/>
            <a:ext cx="10424160" cy="786384"/>
          </a:xfrm>
          <a:prstGeom prst="roundRect">
            <a:avLst>
              <a:gd name="adj" fmla="val 814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29284" y="3831336"/>
            <a:ext cx="512064" cy="512064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7300" y="3959352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96796" y="3785616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Credenciação e blocos horários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4905756" y="3767328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presencial apenas por convocatória de pré-seleccionados, com credencial digital e horários por blocos, para controlar a afluência.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882396" y="4626864"/>
            <a:ext cx="10424160" cy="786384"/>
          </a:xfrm>
          <a:prstGeom prst="roundRect">
            <a:avLst>
              <a:gd name="adj" fmla="val 814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1129284" y="4764024"/>
            <a:ext cx="512064" cy="512064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892040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796796" y="4718304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separado por função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4905756" y="4700016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Audições avaliativas em sala fechada. No Palco da Chance, som dimensionado para espectáculo, em convivência com o ambiente do shopping.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882396" y="5559552"/>
            <a:ext cx="10424160" cy="786384"/>
          </a:xfrm>
          <a:prstGeom prst="roundRect">
            <a:avLst>
              <a:gd name="adj" fmla="val 814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1129284" y="5696712"/>
            <a:ext cx="512064" cy="512064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5824728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796796" y="5650992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Contingência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4905756" y="5632704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Redundância de energia via gerador, plano de evacuação articulado com o shopping e margem de reagendamento entre fins-de-semana.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E MITIGAÇÃO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Honestidade antes do aplauso.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05256" y="17830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157216" y="17830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MITIGAÇÃO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05256" y="2103120"/>
            <a:ext cx="3931920" cy="914400"/>
          </a:xfrm>
          <a:prstGeom prst="roundRect">
            <a:avLst>
              <a:gd name="adj" fmla="val 700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" y="219456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Multidões acima do previsto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157216" y="2103120"/>
            <a:ext cx="6126480" cy="914400"/>
          </a:xfrm>
          <a:prstGeom prst="roundRect">
            <a:avLst>
              <a:gd name="adj" fmla="val 700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85816" y="219456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Presencial apenas por convocatória com credencial, blocos horários rígidos e comunicação clara: sem credencial não há audição.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905256" y="3182112"/>
            <a:ext cx="3931920" cy="914400"/>
          </a:xfrm>
          <a:prstGeom prst="roundRect">
            <a:avLst>
              <a:gd name="adj" fmla="val 700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33856" y="327355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Perturbação dos lojistas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157216" y="3182112"/>
            <a:ext cx="6126480" cy="914400"/>
          </a:xfrm>
          <a:prstGeom prst="roundRect">
            <a:avLst>
              <a:gd name="adj" fmla="val 700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85816" y="3273552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Perímetros de fila fora das frentes de loja, operação concentrada em fins-de-semana e reuniões prévias com os lojistas.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05256" y="4261104"/>
            <a:ext cx="3931920" cy="914400"/>
          </a:xfrm>
          <a:prstGeom prst="roundRect">
            <a:avLst>
              <a:gd name="adj" fmla="val 700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33856" y="4352544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Qualidade técnica das audições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157216" y="4261104"/>
            <a:ext cx="6126480" cy="914400"/>
          </a:xfrm>
          <a:prstGeom prst="roundRect">
            <a:avLst>
              <a:gd name="adj" fmla="val 700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85816" y="4352544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Separação total entre o espectáculo público e a avaliação em sala fechada, já prevista na mecânica do formato.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05256" y="5340096"/>
            <a:ext cx="3931920" cy="914400"/>
          </a:xfrm>
          <a:prstGeom prst="roundRect">
            <a:avLst>
              <a:gd name="adj" fmla="val 700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33856" y="5431536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Sobreposição de marcas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157216" y="5340096"/>
            <a:ext cx="6126480" cy="914400"/>
          </a:xfrm>
          <a:prstGeom prst="roundRect">
            <a:avLst>
              <a:gd name="adj" fmla="val 700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85816" y="5431536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categorias com exclusividade e aprovação prévia de todas as activações pela produção.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638251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projecto desta dimensão num espaço comercial em funcionamento exige planeamento, não improviso.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LIGAÇÃO COM A NOVELA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Grande Chance é a primeira etapa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Filhos da Terra.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920240" y="2331720"/>
            <a:ext cx="8348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público conhecerá os futuros actores antes da estreia da produção, criando identificação, expectativa e envolvimento com a nova ficção da Rede Girassol.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828800" y="3429000"/>
            <a:ext cx="3566160" cy="868680"/>
          </a:xfrm>
          <a:prstGeom prst="roundRect">
            <a:avLst>
              <a:gd name="adj" fmla="val 9474"/>
            </a:avLst>
          </a:prstGeom>
          <a:solidFill>
            <a:srgbClr val="2E0B08">
              <a:alpha val="90000"/>
            </a:srgbClr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828800" y="34290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GRANDE CHANCE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715000" y="3657600"/>
            <a:ext cx="777240" cy="411480"/>
          </a:xfrm>
          <a:prstGeom prst="rightArrow">
            <a:avLst/>
          </a:prstGeom>
          <a:solidFill>
            <a:srgbClr val="D9A441"/>
          </a:solidFill>
          <a:ln/>
        </p:spPr>
      </p:sp>
      <p:sp>
        <p:nvSpPr>
          <p:cNvPr id="8" name="Shape 6"/>
          <p:cNvSpPr/>
          <p:nvPr/>
        </p:nvSpPr>
        <p:spPr>
          <a:xfrm>
            <a:off x="6812280" y="3429000"/>
            <a:ext cx="3566160" cy="868680"/>
          </a:xfrm>
          <a:prstGeom prst="roundRect">
            <a:avLst>
              <a:gd name="adj" fmla="val 9474"/>
            </a:avLst>
          </a:prstGeom>
          <a:solidFill>
            <a:srgbClr val="2E0B08">
              <a:alpha val="90000"/>
            </a:srgbClr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12280" y="34290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FILHOS DA TERRA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920240" y="4754880"/>
            <a:ext cx="8348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Shopping Outlet, a associação não termina com o casting. O elenco revelado no seu palco protagonizará a próxima grande novela do canal, e cada referência à origem desses actores é uma referência ao lugar onde foram descobertos.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1051560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1508760"/>
            <a:ext cx="99943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do que escolher actores,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descobrir estrelas.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1828800" y="3200400"/>
            <a:ext cx="85313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parceria transforma o Shopping Outlet no palco de um acontecimento televisivo nacional, converte audiência em visitas e visitas em consumo, e associa a marca aos valores de talento, inclusão e oportunidade que definem A Grande Chance.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0" y="4434840"/>
            <a:ext cx="1218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spc="3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GRANDE CHANCE 2026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0" y="498348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procura dos novos rostos de Filhos da Terra.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0" y="534924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o talento nasce em qualquer lugar de Angola. E este ano sobe ao palco no Shopping Outlet.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6355080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de parceria sujeita a alinhamento institucional e aprovação interna das partes.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Grande Chance 2026 · Edição Shopping Outlet</dc:title>
  <dc:subject>PptxGenJS Presentation</dc:subject>
  <dc:creator>Rede Girassol</dc:creator>
  <cp:lastModifiedBy>Rede Girassol</cp:lastModifiedBy>
  <cp:revision>1</cp:revision>
  <dcterms:created xsi:type="dcterms:W3CDTF">2026-09-07T10:27:47Z</dcterms:created>
  <dcterms:modified xsi:type="dcterms:W3CDTF">2026-09-07T10:27:47Z</dcterms:modified>
</cp:coreProperties>
</file>