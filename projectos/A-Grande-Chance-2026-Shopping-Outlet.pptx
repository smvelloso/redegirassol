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417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FE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GIRASSOL APRESENTA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0" y="187452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GRANDE CHANCE 2026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0" y="2999232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EDIÇÃO SHOPPING OUTLET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50008" y="3886200"/>
            <a:ext cx="7498080" cy="566928"/>
          </a:xfrm>
          <a:prstGeom prst="roundRect">
            <a:avLst>
              <a:gd name="adj" fmla="val 14516"/>
            </a:avLst>
          </a:prstGeom>
          <a:solidFill>
            <a:srgbClr val="2E0B08">
              <a:alpha val="90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50008" y="38862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 ESTRATÉGICA · PALCO OFICIAL DO CASTING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800600"/>
            <a:ext cx="8165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talento nasce em qualquer lugar de Angola.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este ano sobe ao palco no coração do Shopping Outlet.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· Direcção de Produção e Conteúdo · Setembro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próximo grande talento vai ser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descoberto dentro do Shopping Outlet.”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2286000"/>
            <a:ext cx="8714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sucesso da primeira edição de A Grande Chance, que revelou os actores de Os Donos do Silêncio, a Rede Girassol prepara o maior casting de televisão de Angola em busca do elenco da sua próxima grande ficção: Filhos da Terra.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3383280"/>
            <a:ext cx="8714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proposta tem uma contrapartida central e diferenciadora: a fase presencial do casting realiza-se dentro do Shopping Outlet. O shopping deixa de ser um espaço publicitário e passa a ser o palco oficial onde nascem as próximas estrelas da ficção angolana.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075688" y="4892040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2E0B08">
              <a:alpha val="90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75688" y="48920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Shopping  ·  1 Novela  ·  Milhares de Sonhos  ·  Milhares de Visitantes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DE SUCESSO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Grande Chance · 1ª Edição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481328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casting de televisão de Angola, que revelou o elenco de Os Donos do Silêncio.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83280" cy="1920240"/>
          </a:xfrm>
          <a:prstGeom prst="roundRect">
            <a:avLst>
              <a:gd name="adj" fmla="val 3333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12.000+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INSCRIÇÕES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 o país na primeira edição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383280" cy="1920240"/>
          </a:xfrm>
          <a:prstGeom prst="roundRect">
            <a:avLst>
              <a:gd name="adj" fmla="val 3333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23957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SELECCIONADOS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casting presencial final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1856" y="2148840"/>
            <a:ext cx="3383280" cy="1920240"/>
          </a:xfrm>
          <a:prstGeom prst="roundRect">
            <a:avLst>
              <a:gd name="adj" fmla="val 3333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54312" y="2459736"/>
            <a:ext cx="658368" cy="658368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904" y="2624328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991856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DONOS DO SILÊNCIO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74736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de audiência com elenco 100% revelado pelo casting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4526280"/>
            <a:ext cx="8714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está validado: um casting nacional gera mobilização massiva de público, conteúdo de forte audiência e um elenco que o país conhece e apoia antes da estreia da novela. É essa mobilização que esta proposta coloca dentro do Shopping Outlet.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63825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Exibição da 1ª edição com distribuição nacional: ZAP · TVCabo · DStv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PARA O SHOPPING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Porquê o casting dentro do shopping.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1965960"/>
            <a:ext cx="5358384" cy="1783080"/>
          </a:xfrm>
          <a:prstGeom prst="roundRect">
            <a:avLst>
              <a:gd name="adj" fmla="val 359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" y="2546604"/>
            <a:ext cx="621792" cy="62179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27020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4772" y="2167128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massivo e recorrente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04772" y="2514600"/>
            <a:ext cx="4078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candidato convocado chega acompanhado por familiares e amigos. Milhares de visitas adicionais concentradas nos dias de casting.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7356" y="1965960"/>
            <a:ext cx="5358384" cy="1783080"/>
          </a:xfrm>
          <a:prstGeom prst="roundRect">
            <a:avLst>
              <a:gd name="adj" fmla="val 359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3388" y="2546604"/>
            <a:ext cx="621792" cy="62179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7020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28916" y="2167128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Permanência prolongada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328916" y="2514600"/>
            <a:ext cx="4078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candidato espera, almoça, lancha e passeia. Uma visita de 40 minutos transforma-se numa permanência de meio dia, com efeito directo no consumo.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53212" y="4114800"/>
            <a:ext cx="5358384" cy="1783080"/>
          </a:xfrm>
          <a:prstGeom prst="roundRect">
            <a:avLst>
              <a:gd name="adj" fmla="val 359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244" y="4695444"/>
            <a:ext cx="621792" cy="62179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8508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4772" y="4315968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shopping como cenário nacional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604772" y="4663440"/>
            <a:ext cx="4078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Shopping Outlet aparece em emissão nacional como o palco onde os sonhos acontecem, em todos os episódios, teasers e bastidores.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7356" y="4114800"/>
            <a:ext cx="5358384" cy="1783080"/>
          </a:xfrm>
          <a:prstGeom prst="roundRect">
            <a:avLst>
              <a:gd name="adj" fmla="val 359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3388" y="4695444"/>
            <a:ext cx="621792" cy="62179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8508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28916" y="4315968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emocional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328916" y="4663440"/>
            <a:ext cx="4078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marca fica ligada ao dia em que alguém teve a grande chance. Inclusão, oportunidade e ascensão social não se compram com publicidade convencional.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63825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marca não compra publicidade. Recebe o acontecimento.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MECÂNICA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espaços, um espectáculo.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1783080"/>
            <a:ext cx="5358384" cy="3063240"/>
          </a:xfrm>
          <a:prstGeom prst="roundRect">
            <a:avLst>
              <a:gd name="adj" fmla="val 209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75788" y="1993392"/>
            <a:ext cx="713232" cy="71323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2171700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" y="2788920"/>
            <a:ext cx="5358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PALCO DA CHANCE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53212" y="310896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central · aberto ao público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8972" y="3474720"/>
            <a:ext cx="4626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cénica com a identidade de A Grande Chance e do Shopping Outlet. Recepção dos candidatos, desafios abertos, reacções do júri e anúncio dos apurados. É o íman de público e o cenário principal das gravações.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7356" y="1783080"/>
            <a:ext cx="5358384" cy="3063240"/>
          </a:xfrm>
          <a:prstGeom prst="roundRect">
            <a:avLst>
              <a:gd name="adj" fmla="val 209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9932" y="1993392"/>
            <a:ext cx="713232" cy="71323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171700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77356" y="2788920"/>
            <a:ext cx="5358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 DE AUDIÇÕES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277356" y="310896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fechado cedido pelo shopping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643116" y="3474720"/>
            <a:ext cx="4626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convertida em estúdio, com som e luz controlados. É aqui que o júri avalia tecnicamente cada candidato, em condições que a área comum não permite, garantindo que o casting cumpre a sua função: encontrar o elenco de Filhos da Terra.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194560" y="5257800"/>
            <a:ext cx="7799832" cy="621792"/>
          </a:xfrm>
          <a:prstGeom prst="roundRect">
            <a:avLst>
              <a:gd name="adj" fmla="val 13235"/>
            </a:avLst>
          </a:prstGeom>
          <a:solidFill>
            <a:srgbClr val="2E0B08">
              <a:alpha val="90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194560" y="5257800"/>
            <a:ext cx="7799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 6 dias de operação  ·  2 a 3 fins-de-semana consecutivos  ·  dias de maior tráfego natural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dia de casting, um episódio especial.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5236" y="2057400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Inscrições e recepção dos candidatos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23076" y="2057400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7396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das audições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236" y="3218688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9556" y="32186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de representação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3076" y="3218688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7396" y="32186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júri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5236" y="4379976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9556" y="437997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vida dos participantes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3076" y="4379976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97396" y="437997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dos apurados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5486400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público acompanha o talento, a evolução e a superação dos concorrentes.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Shopping Outlet está presente em todos estes momentos, porque todos acontecem dentro dele.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JÚRI E APRESENTADORA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rostos que vão guiar esta jornada.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16916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APRESENTADORA</a:t>
            </a:r>
            <a:endParaRPr lang="en-US" sz="1200" dirty="0"/>
          </a:p>
        </p:txBody>
      </p:sp>
      <p:pic>
        <p:nvPicPr>
          <p:cNvPr id="5" name="Image 0" descr="/tmp/claude-0/-home-user-Redegirassol/2f2b6029-1649-5525-934e-4378fba9b21d/scratchpad/ph-jud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034540"/>
            <a:ext cx="1417320" cy="14173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85816" y="2034540"/>
            <a:ext cx="1417320" cy="14173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3520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Juddy da Conceição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0" y="38404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negociação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0" y="43434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MEMBROS DO JÚRI</a:t>
            </a:r>
            <a:endParaRPr lang="en-US" sz="1200" dirty="0"/>
          </a:p>
        </p:txBody>
      </p:sp>
      <p:pic>
        <p:nvPicPr>
          <p:cNvPr id="10" name="Image 1" descr="/tmp/claude-0/-home-user-Redegirassol/2f2b6029-1649-5525-934e-4378fba9b21d/scratchpad/ph-talib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4640580"/>
            <a:ext cx="1051560" cy="1051560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59736" y="4640580"/>
            <a:ext cx="1051560" cy="105156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385316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Kialanda “Talibã”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385316" y="6016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negociação</a:t>
            </a:r>
            <a:endParaRPr lang="en-US" sz="1100" dirty="0"/>
          </a:p>
        </p:txBody>
      </p:sp>
      <p:pic>
        <p:nvPicPr>
          <p:cNvPr id="14" name="Image 2" descr="/tmp/claude-0/-home-user-Redegirassol/2f2b6029-1649-5525-934e-4378fba9b21d/scratchpad/ph-gra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4640580"/>
            <a:ext cx="1051560" cy="1051560"/>
          </a:xfrm>
          <a:prstGeom prst="ellipse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568696" y="4640580"/>
            <a:ext cx="1051560" cy="105156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94276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Mendes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494276" y="6016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negociação</a:t>
            </a:r>
            <a:endParaRPr lang="en-US" sz="1100" dirty="0"/>
          </a:p>
        </p:txBody>
      </p:sp>
      <p:pic>
        <p:nvPicPr>
          <p:cNvPr id="18" name="Image 3" descr="/tmp/claude-0/-home-user-Redegirassol/2f2b6029-1649-5525-934e-4378fba9b21d/scratchpad/ph-mawe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4640580"/>
            <a:ext cx="1051560" cy="1051560"/>
          </a:xfrm>
          <a:prstGeom prst="ellipse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677656" y="4640580"/>
            <a:ext cx="1051560" cy="105156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603236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Mawete Paciência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7603236" y="6016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negociação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63825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em linha com o pitch geral de A Grande Chance 2026, sujeito a confirmação contratual.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CONTRAPARTIDAS DE VISIBILIDADE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Outlet · Palco Oficial de A Grande Chance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965960"/>
            <a:ext cx="3529584" cy="1810512"/>
          </a:xfrm>
          <a:prstGeom prst="roundRect">
            <a:avLst>
              <a:gd name="adj" fmla="val 35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79676" y="2112264"/>
            <a:ext cx="530352" cy="53035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64" y="22448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2940" y="26791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da fase presencial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08660" y="297180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Grande Chance 2026, casting oficial no Shopping Outlet”, com menção verbal da apresentadora em cada episódio.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9684" y="1965960"/>
            <a:ext cx="3529584" cy="1810512"/>
          </a:xfrm>
          <a:prstGeom prst="roundRect">
            <a:avLst>
              <a:gd name="adj" fmla="val 35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29300" y="2112264"/>
            <a:ext cx="530352" cy="53035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2448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2564" y="26791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em antena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58284" y="297180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 no genérico, cartelas e separadores. Fachada e interiores integrados na narrativa dos episódios e nos teasers.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79308" y="1965960"/>
            <a:ext cx="3529584" cy="1810512"/>
          </a:xfrm>
          <a:prstGeom prst="roundRect">
            <a:avLst>
              <a:gd name="adj" fmla="val 35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78924" y="2112264"/>
            <a:ext cx="530352" cy="53035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512" y="22448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2188" y="26791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digital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407908" y="297180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localização em toda a convocatória nacional dos candidatos, bastidores com júri e apresentadora, desafios de participação.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0060" y="4096512"/>
            <a:ext cx="3529584" cy="1810512"/>
          </a:xfrm>
          <a:prstGeom prst="roundRect">
            <a:avLst>
              <a:gd name="adj" fmla="val 35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79676" y="4242816"/>
            <a:ext cx="530352" cy="53035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64" y="437540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62940" y="4809744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Activação no espaço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08660" y="5102352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Activações do shopping e das lojas junto ao Palco da Chance, com campanhas internas no fim-de-semana da Grande Chance.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9684" y="4096512"/>
            <a:ext cx="3529584" cy="1810512"/>
          </a:xfrm>
          <a:prstGeom prst="roundRect">
            <a:avLst>
              <a:gd name="adj" fmla="val 35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29300" y="4242816"/>
            <a:ext cx="530352" cy="53035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375404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12564" y="4809744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Exclusividade de categoria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58284" y="5102352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 centros comerciais e retalho imobiliário fechada em exclusivo para o Shopping Outlet, mediante negociação.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79308" y="4096512"/>
            <a:ext cx="3529584" cy="1810512"/>
          </a:xfrm>
          <a:prstGeom prst="roundRect">
            <a:avLst>
              <a:gd name="adj" fmla="val 3535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678924" y="4242816"/>
            <a:ext cx="530352" cy="530352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1512" y="4375404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62188" y="4809744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Relações públicas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407908" y="5102352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nas comunicações de imprensa, convites para a gala de anúncio do elenco e antestreia de Filhos da Terra.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731520" y="63825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Contrapartidas sujeitas a aprovação editorial, técnica e comercial.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INVESTIMENTO DO PARCEIRO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misto: contrapartidas em espécie e investimento.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1828800"/>
            <a:ext cx="5358384" cy="3291840"/>
          </a:xfrm>
          <a:prstGeom prst="roundRect">
            <a:avLst>
              <a:gd name="adj" fmla="val 1944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2364" y="2011680"/>
            <a:ext cx="640080" cy="640080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" y="2724912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ESPÉCIE · ESSENCIAIS À OPERAÇÃO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4692" y="3108960"/>
            <a:ext cx="4581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central para o Palco da Chance e montagem prévia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ou sala para audições, camarins e apoio de produção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garantida, com acesso a gerador em caso de corte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segurança e limpeza nos dias de casting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Ecrãs internos, som ambiente, sinalética e redes do shopping ao serviço da divulgação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828800"/>
            <a:ext cx="5358384" cy="3291840"/>
          </a:xfrm>
          <a:prstGeom prst="roundRect">
            <a:avLst>
              <a:gd name="adj" fmla="val 1944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36508" y="2011680"/>
            <a:ext cx="640080" cy="640080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1717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77356" y="2724912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FINANCEIRO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688836" y="3108960"/>
            <a:ext cx="4535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financeira correspondente ao estatuto de Palco Oficial, em valor a negociar em função do pacote final de contrapartidas e do calendário de operação.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688836" y="4023360"/>
            <a:ext cx="4535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realização do casting no shopping substitui custos de auditório e logística de espaço, considerados na valorização da parceria. Mas a exposição em antena e digital tem valor comercial próprio, e é esse valor que o estatuto remunera.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PATROCÍNIO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investimento · Palco Oficial.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1828800"/>
            <a:ext cx="5358384" cy="3246120"/>
          </a:xfrm>
          <a:prstGeom prst="roundRect">
            <a:avLst>
              <a:gd name="adj" fmla="val 1972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3212" y="208483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PALCO OFICIAL · SHOPPING OUTLET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53212" y="2395728"/>
            <a:ext cx="5358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25.000.000 Kz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53212" y="309067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global do estatuto, assim composto: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" y="3474720"/>
            <a:ext cx="4535424" cy="566928"/>
          </a:xfrm>
          <a:prstGeom prst="roundRect">
            <a:avLst>
              <a:gd name="adj" fmla="val 9677"/>
            </a:avLst>
          </a:prstGeom>
          <a:solidFill>
            <a:srgbClr val="1F0605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4692" y="3474720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financeiro</a:t>
            </a:r>
            <a:pPr algn="ctr" indent="0" marL="0">
              <a:buNone/>
            </a:pPr>
            <a:r>
              <a:rPr lang="en-US" sz="1350" b="1" dirty="0">
                <a:solidFill>
                  <a:srgbClr val="E8C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15.000.000 Kz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4692" y="4169664"/>
            <a:ext cx="4535424" cy="566928"/>
          </a:xfrm>
          <a:prstGeom prst="roundRect">
            <a:avLst>
              <a:gd name="adj" fmla="val 9677"/>
            </a:avLst>
          </a:prstGeom>
          <a:solidFill>
            <a:srgbClr val="1F0605"/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4692" y="4169664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Contrapartidas em espécie valorizadas</a:t>
            </a:r>
            <a:pPr algn="ctr" indent="0" marL="0">
              <a:buNone/>
            </a:pPr>
            <a:r>
              <a:rPr lang="en-US" sz="1350" b="1" dirty="0">
                <a:solidFill>
                  <a:srgbClr val="E8C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10.000.000 Kz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7356" y="1828800"/>
            <a:ext cx="5358384" cy="3246120"/>
          </a:xfrm>
          <a:prstGeom prst="roundRect">
            <a:avLst>
              <a:gd name="adj" fmla="val 1972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7356" y="208483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· CUSTO DE PRODUÇÃO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77356" y="2395728"/>
            <a:ext cx="5358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38.288.000 Kz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277356" y="309067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custo de produção aprovado do projecto (versão 1.2)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88836" y="3520440"/>
            <a:ext cx="4535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 financeiro do Palco Oficial cobre cerca de 40% do custo de produção. O restante é assegurado pelo Patrocinador Master e pelas demais categorias de parceiros, mantendo o projecto multipatrocinado e nenhum parceiro sobrecarregado.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3825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abertura de negociação, sujeitos a ajuste em função do pacote final de contrapartidas e do calendário.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PATROCÍNIOS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e Palco Oficial reforçam-se.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874520"/>
            <a:ext cx="3529584" cy="2880360"/>
          </a:xfrm>
          <a:prstGeom prst="roundRect">
            <a:avLst>
              <a:gd name="adj" fmla="val 2222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4812" y="2057400"/>
            <a:ext cx="640080" cy="640080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2940" y="27706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PATROCINADOR MASTER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2940" y="306324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em negociação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54380" y="34290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Detém a associação nominal principal ao programa e a exclusividade da sua categoria. Ganha no shopping um ponto físico de activação de excelência.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9684" y="1874520"/>
            <a:ext cx="3529584" cy="2880360"/>
          </a:xfrm>
          <a:prstGeom prst="roundRect">
            <a:avLst>
              <a:gd name="adj" fmla="val 2222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22174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12564" y="27706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PALCO OFICIAL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12564" y="306324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Outlet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604004" y="34290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exclusiva à fase presencial do casting e à categoria de centros comerciais. Ganha o peso mediático de um projecto com patrocínio nacional.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9308" y="1874520"/>
            <a:ext cx="3529584" cy="2880360"/>
          </a:xfrm>
          <a:prstGeom prst="roundRect">
            <a:avLst>
              <a:gd name="adj" fmla="val 2222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24060" y="2057400"/>
            <a:ext cx="640080" cy="640080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22174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2188" y="27706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ABERTAS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62188" y="306324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 parceiros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453628" y="34290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e mobilidade, hotelaria, telecomunicações, banca e seguros, alimentação e bebidas, com exclusividade dentro de cada categoria.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1737360" y="5120640"/>
            <a:ext cx="8714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conflito entre estatutos. O naming principal do programa mantém-se no Master. O Shopping Outlet detém, em exclusivo, o acontecimento.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OPERACIONAL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profissional, shopping a funcionar.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2396" y="1828800"/>
            <a:ext cx="10424160" cy="786384"/>
          </a:xfrm>
          <a:prstGeom prst="roundRect">
            <a:avLst>
              <a:gd name="adj" fmla="val 814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" y="1965960"/>
            <a:ext cx="512064" cy="512064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0939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96796" y="19202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 completa de exteriores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905756" y="19019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Produção, realização, câmaras, drone, gimbal, áudio, play out, cenografia, caracterização e segurança de produção, nos moldes já orçamentados para a tour.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82396" y="2761488"/>
            <a:ext cx="10424160" cy="786384"/>
          </a:xfrm>
          <a:prstGeom prst="roundRect">
            <a:avLst>
              <a:gd name="adj" fmla="val 814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9284" y="2898648"/>
            <a:ext cx="512064" cy="512064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0266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96796" y="28529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Montagem nocturna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905756" y="28346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Cenografia montada em horário acordado com a administração, sem perturbar o funcionamento normal das lojas.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82396" y="3694176"/>
            <a:ext cx="10424160" cy="786384"/>
          </a:xfrm>
          <a:prstGeom prst="roundRect">
            <a:avLst>
              <a:gd name="adj" fmla="val 814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29284" y="3831336"/>
            <a:ext cx="512064" cy="512064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39593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96796" y="37856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Credenciação e blocos horários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905756" y="376732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presencial apenas por convocatória de pré-seleccionados, com credencial digital e horários por blocos, para controlar a afluência.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2396" y="4626864"/>
            <a:ext cx="10424160" cy="786384"/>
          </a:xfrm>
          <a:prstGeom prst="roundRect">
            <a:avLst>
              <a:gd name="adj" fmla="val 814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29284" y="4764024"/>
            <a:ext cx="512064" cy="512064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8920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96796" y="47183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separado por função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905756" y="470001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Audições avaliativas em sala fechada. No Palco da Chance, som dimensionado para espectáculo, em convivência com o ambiente do shopping.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82396" y="5559552"/>
            <a:ext cx="10424160" cy="786384"/>
          </a:xfrm>
          <a:prstGeom prst="roundRect">
            <a:avLst>
              <a:gd name="adj" fmla="val 814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129284" y="5696712"/>
            <a:ext cx="512064" cy="512064"/>
          </a:xfrm>
          <a:prstGeom prst="ellipse">
            <a:avLst/>
          </a:prstGeom>
          <a:solidFill>
            <a:srgbClr val="1F060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582472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96796" y="56509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Contingência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905756" y="563270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 de energia via gerador, plano de evacuação articulado com o shopping e margem de reagendamento entre fins-de-semana.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MITIGAÇÃO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Honestidade antes do aplauso.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05256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157216" y="1783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5256" y="210312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" y="2194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Multidões acima do previsto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57216" y="2103120"/>
            <a:ext cx="612648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85816" y="21945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apenas por convocatória com credencial, blocos horários rígidos e comunicação clara: sem credencial não há audição.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5256" y="3182112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33856" y="32735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Perturbação dos lojistas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57216" y="3182112"/>
            <a:ext cx="612648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85816" y="327355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Perímetros de fila fora das frentes de loja, operação concentrada em fins-de-semana e reuniões prévias com os lojistas.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" y="4261104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435254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técnica das audições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57216" y="4261104"/>
            <a:ext cx="612648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85816" y="435254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total entre o espectáculo público e a avaliação em sala fechada, já prevista na mecânica do formato.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" y="5340096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33856" y="543153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Sobreposição de marcas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57216" y="5340096"/>
            <a:ext cx="6126480" cy="914400"/>
          </a:xfrm>
          <a:prstGeom prst="roundRect">
            <a:avLst>
              <a:gd name="adj" fmla="val 7000"/>
            </a:avLst>
          </a:prstGeom>
          <a:solidFill>
            <a:srgbClr val="2E0B08">
              <a:alpha val="88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85816" y="543153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categorias com exclusividade e aprovação prévia de todas as activações pela produção.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38251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projecto desta dimensão num espaço comercial em funcionamento exige planeamento, não improviso.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8404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 COM A NOVELA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Grande Chance é a primeira etapa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Filhos da Terra.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2331720"/>
            <a:ext cx="8348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público conhecerá os futuros actores antes da estreia da produção, criando identificação, expectativa e envolvimento com a nova ficção da Rede Girassol.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342900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2E0B08">
              <a:alpha val="90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GRANDE CHANCE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3657600"/>
            <a:ext cx="777240" cy="4114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6812280" y="342900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2E0B08">
              <a:alpha val="90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FILHOS DA TERRA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475488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Shopping Outlet, a associação não termina com o casting. O elenco revelado no seu palco protagonizará a próxima grande novela do canal, e cada referência à origem desses actores é uma referência ao lugar onde foram descobertos.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5087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escolher actores,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descobrir estrelas.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3200400"/>
            <a:ext cx="8531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parceria transforma o Shopping Outlet no palco de um acontecimento televisivo nacional, converte audiência em visitas e visitas em consumo, e associa a marca aos valores de talento, inclusão e oportunidade que definem A Grande Chance.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0" y="44348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E8C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GRANDE CHANCE 2026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0" y="4983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procura dos novos rostos de Filhos da Terra.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0" y="53492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talento nasce em qualquer lugar de Angola. E este ano sobe ao palco no Shopping Outlet.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parceria sujeita a alinhamento institucional e aprovação interna das partes.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Grande Chance 2026 · Edição Shopping Outlet</dc:title>
  <dc:subject>PptxGenJS Presentation</dc:subject>
  <dc:creator>Rede Girassol</dc:creator>
  <cp:lastModifiedBy>Rede Girassol</cp:lastModifiedBy>
  <cp:revision>1</cp:revision>
  <dcterms:created xsi:type="dcterms:W3CDTF">2026-09-07T10:23:30Z</dcterms:created>
  <dcterms:modified xsi:type="dcterms:W3CDTF">2026-09-07T10:23:30Z</dcterms:modified>
</cp:coreProperties>
</file>